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9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[0:00–0:20]</a:t>
            </a:r>
          </a:p>
          <a:p>
            <a:r>
              <a:t>안녕하십니까. 한국폴리텍대학 서울정수캠퍼스 도형준입니다.</a:t>
            </a:r>
          </a:p>
          <a:p>
            <a:r>
              <a:t>자격시험 공개문제 기반 AI PLC 실기·트러블슈팅 교육장비, AutoCert AI Lab의 설계를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[0:20–1:10]</a:t>
            </a:r>
          </a:p>
          <a:p>
            <a:r>
              <a:t>PLC 실습실의 한 장면으로 시작하겠습니다.</a:t>
            </a:r>
          </a:p>
          <a:p>
            <a:r>
              <a:t>두 학생이 같은 과제에서 똑같이 실린더가 멈추는 고장을 만났습니다.</a:t>
            </a:r>
          </a:p>
          <a:p>
            <a:r>
              <a:t>학생 A는 입력 상태를 확인하고, 전진 센서 신호가 들어오지 않는다는 것을 찾아 결선을 복구했습니다.</a:t>
            </a:r>
          </a:p>
          <a:p>
            <a:r>
              <a:t>학생 B는 이 배선, 저 배선을 바꿔 보다가 우연히 동작시켰습니다.</a:t>
            </a:r>
          </a:p>
          <a:p>
            <a:r>
              <a:t>두 학생 모두 과제는 완료했습니다. 그리고 최종 동작만 보는 평가에서는 두 학생이 같은 점수를 받습니다.</a:t>
            </a:r>
          </a:p>
          <a:p>
            <a:r>
              <a:t>저희는 이 두 학생을 구분할 수 있는 실습 환경을 만들고자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[1:10–2:20]</a:t>
            </a:r>
          </a:p>
          <a:p>
            <a:r>
              <a:t>이 차이가 중요한 이유는 자격시험과 직무 표준이 요구하는 역량에 있습니다.</a:t>
            </a:r>
          </a:p>
          <a:p>
            <a:r>
              <a:t>자동화설비기능사와 산업기사 공개문제는 PLC 제어작업을 제시하고, NCS의 PLC 기본 운영 능력단위는 결선과 프로그래밍뿐 아니라 시운전과 수정보완을 수행 요소로 둡니다.</a:t>
            </a:r>
          </a:p>
          <a:p>
            <a:r>
              <a:t>즉 요구되는 것은 동작을 완성하는 능력과 함께, 동작하지 않을 때 원인을 찾아 고치는 능력입니다.</a:t>
            </a:r>
          </a:p>
          <a:p>
            <a:r>
              <a:t>그런데 평가가 최종 동작을 중심으로 이루어지면, 학생이 어떤 근거로 원인을 좁혔는지는 남지 않습니다. 교수자 한 명이 여러 학생의 점검 과정을 실시간으로 모두 지켜보기도 어렵습니다.</a:t>
            </a:r>
          </a:p>
          <a:p>
            <a:r>
              <a:t>요구하는 역량과 평가하는 대상 사이에 간극이 있는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[2:20–3:50]</a:t>
            </a:r>
          </a:p>
          <a:p>
            <a:r>
              <a:t>이 간극을 선행연구는 어떻게 다뤄 왔는지 살펴봤습니다.</a:t>
            </a:r>
          </a:p>
          <a:p>
            <a:r>
              <a:t>국내 PLC 교육장비 연구는 실습의 접근성과 장비 운용 범위를 넓혀 왔습니다. 한얼 외는 웹 기반 PLC 실험실로 시간과 장소의 제약을 줄였고, 오재준·최성주는 필드버스 교육장비를 개발해 데이터 수집과 모니터링을 통한 원격진단을 구현했습니다.</a:t>
            </a:r>
          </a:p>
          <a:p>
            <a:r>
              <a:t>다만 두 연구에서 기록되는 대상은 장비의 상태였습니다. 학생이 그 상태를 보고 어떤 판단을 했는지는 남지 않습니다.</a:t>
            </a:r>
          </a:p>
          <a:p>
            <a:r>
              <a:t>해외에서는 대규모 언어모델을 PLC에 적용하는 연구가 활발한데, 저희가 확인한 연구들은 주로 제어 코드 생성에 초점을 두고 있습니다. 특히 LLM4PLC 연구는 외부 검증 없이는 생성된 코드의 유효성을 보장하기 어렵다고 보고했습니다.</a:t>
            </a:r>
          </a:p>
          <a:p>
            <a:r>
              <a:t>정리하면, 장비 상태는 기록해 왔지만 학생의 판단은 기록하지 않았고, AI는 정답을 만드는 쪽으로 쓰여 왔습니다. 본 연구는 이 두 지점에서 출발합니다.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[3:50–5:00]</a:t>
            </a:r>
          </a:p>
          <a:p>
            <a:r>
              <a:t>그렇다면 무엇을 기록해야 할까요.</a:t>
            </a:r>
          </a:p>
          <a:p>
            <a:r>
              <a:t>Jonassen과 Hung은 트러블슈팅 능력이 지식이나 절차 교육만으로는 길러지기 어렵고, 가설을 세우고 검증하고 결과를 해석하는 과정이 필요하다고 보았습니다.</a:t>
            </a:r>
          </a:p>
          <a:p>
            <a:r>
              <a:t>김혜빈 외는 학습 기록이 빈도나 소요 시간에 머물지 않고, 교육적으로 해석할 수 있는 지표로 이어져야 한다고 제언했습니다.</a:t>
            </a:r>
          </a:p>
          <a:p>
            <a:r>
              <a:t>두 관점을 합치면, 남겨야 할 것은 조작 횟수가 아니라 판단의 연결입니다. 점검 전에 무엇을 원인으로 생각했는지, 실제로 무엇이 관측됐는지, 그래서 무엇을 판단하고 고쳤는지.</a:t>
            </a:r>
          </a:p>
          <a:p>
            <a:r>
              <a:t>저희는 이 가설–관측–판단의 연결을 '진단 기록'이라고 정의했습니다.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[5:00–5:40]</a:t>
            </a:r>
          </a:p>
          <a:p>
            <a:r>
              <a:t>본 연구의 목적은 세 가지를 하나의 실습 흐름으로 연결하는 것입니다.</a:t>
            </a:r>
          </a:p>
          <a:p>
            <a:r>
              <a:t>첫째, 진단 기록. 둘째, 이 기록을 근거로 정답이 아닌 질문을 주는 AI 점검 지원. 셋째, 힌트 없는 새 과제로 도움받지 않은 실력을 확인하는 독립 수행 확인입니다.</a:t>
            </a:r>
          </a:p>
          <a:p>
            <a:r>
              <a:t>그리고 AI의 피드백은 UNESCO의 인간 중심 접근에 따라 교수자가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[5:40–6:50]</a:t>
            </a:r>
          </a:p>
          <a:p>
            <a:r>
              <a:t>시스템 구성입니다.</a:t>
            </a:r>
          </a:p>
          <a:p>
            <a:r>
              <a:t>왼쪽의 교육장비는 PLC, 센서, 공압실린더, 모터로 구성되고, 결선 감지 단자대와 I/O 로거가 장비 상태를 수집합니다. 동시에 학생은 점검 전 가설과 점검 후 확인 결과, 수정 이유를 화면에 입력합니다.</a:t>
            </a:r>
          </a:p>
          <a:p>
            <a:r>
              <a:t>자동 감지는 관측 가능한 입출력 변화까지만 가능하기 때문에, 판단의 근거는 학생 입력으로 보완하는 구조입니다.</a:t>
            </a:r>
          </a:p>
          <a:p>
            <a:r>
              <a:t>이 두 흐름이 가운데 진단 기록으로 모입니다. 기록을 기준으로 규칙 엔진은 과제 조건을 판정하고, AI는 점검 질문을 제시하며, 교수자가 최종적으로 평가합니다.</a:t>
            </a:r>
          </a:p>
          <a:p>
            <a:r>
              <a:t>비상정지와 에너지 차단은 AI나 통신과 분리된 별도 안전 회로가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[6:50–7:50]</a:t>
            </a:r>
          </a:p>
          <a:p>
            <a:r>
              <a:t>[천천히] AI 교육장비라고 하면 AI가 답을 알려주거나 채점하는 모습을 떠올리실 텐데, 저희 장비의 AI는 정반대입니다. 답을 말하지 않습니다.</a:t>
            </a:r>
          </a:p>
          <a:p>
            <a:r>
              <a:t>표의 오른쪽 열, '하지 않는 일'을 봐 주십시오. AI는 정답을 제시하지 않고, 장비를 제어하지 않으며, 점수를 확정하지 않습니다.</a:t>
            </a:r>
          </a:p>
          <a:p>
            <a:r>
              <a:t>앞서 말씀드린 것처럼 AI 출력의 정확성은 보장할 수 없기 때문에, 판정은 교수자가 설정한 조건으로 동작하는 규칙 엔진에 맡겼습니다.</a:t>
            </a:r>
          </a:p>
          <a:p>
            <a:r>
              <a:t>교수자 역시 힌트 수나 수정 횟수만으로 숙련도를 판정하지 않습니다. AI 응답이 불가능할 때는 교수자가 미리 검수한 고정 힌트로 대체합니다.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[7:50–8:30]</a:t>
            </a:r>
          </a:p>
          <a:p>
            <a:r>
              <a:t>지금부터는 이 설계가 실제 수업에서 어떻게 쓰이는지, 화면 단위로 보여드리겠습니다. 모든 화면은 설계 예시입니다.</a:t>
            </a:r>
          </a:p>
          <a:p>
            <a:r>
              <a:t>학생은 실습 대시보드와 AI 점검 질문 화면을, 복기 때는 진단 기록 재생 화면을 봅니다. 교수자는 진단 과정을 평가하는 화면을 씁니다.</a:t>
            </a:r>
          </a:p>
          <a:p>
            <a:r>
              <a:t>하나의 고장 사례를 따라가면서 순서대로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[8:30–9:00]</a:t>
            </a:r>
          </a:p>
          <a:p>
            <a:r>
              <a:t>먼저 교수자가 과제를 준비합니다.</a:t>
            </a:r>
          </a:p>
          <a:p>
            <a:r>
              <a:t>과제 프로파일에 입출력 주소, 동작 순서와 시간 조건, 금지 상태를 저장합니다. 규칙 엔진은 오직 이 기준으로만 판정합니다.</a:t>
            </a:r>
          </a:p>
          <a:p>
            <a:r>
              <a:t>그리고 허용된 실습 조건에서 고장 조건을 설정합니다. 이번 사례는 전진 완료 센서 X1의 신호 누락입니다. 이 설정은 학생에게 보이지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[9:00–9:30]</a:t>
            </a:r>
          </a:p>
          <a:p>
            <a:r>
              <a:t>학생은 공개문제를 교육용으로 재구성한 과제 중 하나를 고르고, 실습 모드를 선택합니다.</a:t>
            </a:r>
          </a:p>
          <a:p>
            <a:r>
              <a:t>실습을 시작하는 순간부터 가설, 관측, 힌트가 모두 시간순으로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[9:30–10:20]</a:t>
            </a:r>
          </a:p>
          <a:p>
            <a:r>
              <a:t>실습 중 실린더는 끝까지 전진했는데, 다음 공정 모터가 돌지 않습니다. 도입에서 보신 그 상황입니다.</a:t>
            </a:r>
          </a:p>
          <a:p>
            <a:r>
              <a:t>규칙 엔진이 단계 3의 시간 조건 초과를 감지하고, 실시간 입출력에서는 X1이 꺼져 있는 것이 보입니다. 결선 상태는 계속 기록되지만, 원인을 알려주지는 않습니다.</a:t>
            </a:r>
          </a:p>
          <a:p>
            <a:r>
              <a:t>그리고 시스템은 점검을 시작하기 전에 가설부터 입력하라고 요구합니다. 오른쪽 아래는 실제 장비에서 벌어지는 상황을 그린 결선도입니다.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[10:20–10:50]</a:t>
            </a:r>
          </a:p>
          <a:p>
            <a:r>
              <a:t>학생은 관찰한 증상과 가설, 먼저 확인할 것을 적습니다. "전진 완료 센서 신호가 PLC에 들어오지 않는 것 같다."</a:t>
            </a:r>
          </a:p>
          <a:p>
            <a:r>
              <a:t>가설을 저장하는 순간의 입출력 상태가 자동으로 함께 저장됩니다. 나중에 이 가설이 어떤 관측을 근거로 세워졌는지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[10:50–11:30]</a:t>
            </a:r>
          </a:p>
          <a:p>
            <a:r>
              <a:t>이때 AI는 "센서가 원인입니다"라고 말하지 않습니다.</a:t>
            </a:r>
          </a:p>
          <a:p>
            <a:r>
              <a:t>"실린더가 끝까지 전진했을 때 X1 입력 표시는 어떤가", "X1이 필요한 단계는 어디인가"처럼 확인할 대상만 묻습니다. 학생이 답하면, 다음으로 어느 지점을 확인할지 다시 묻습니다.</a:t>
            </a:r>
          </a:p>
          <a:p>
            <a:r>
              <a:t>질문은 진단 기록과 검수된 과제 자료 범위 안에서만 만들어지고, 힌트 사용은 기록되지만 점수로 바로 환산되지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[11:30–12:10]</a:t>
            </a:r>
          </a:p>
          <a:p>
            <a:r>
              <a:t>학생은 직접 확인한 결과를 적습니다. 실린더는 끝까지 갔는데 X1은 꺼져 있다. 가설을 유지합니다.</a:t>
            </a:r>
          </a:p>
          <a:p>
            <a:r>
              <a:t>그리고 센서 커넥터의 결선 이탈을 찾아 복구했다는 조치와, 그래서 Y1 조건이 성립하지 않았다는 이유를 기록합니다.</a:t>
            </a:r>
          </a:p>
          <a:p>
            <a:r>
              <a:t>결선을 복구하면 오른쪽 래더처럼 X1이 통전되어 모터가 돌고, 규칙 엔진이 과제 조건 충족을 판정합니다. AI는 판정에 관여하지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[12:10–12:50]</a:t>
            </a:r>
          </a:p>
          <a:p>
            <a:r>
              <a:t>실습이 끝나면 복기 모드에서 전체 과정이 재생됩니다.</a:t>
            </a:r>
          </a:p>
          <a:p>
            <a:r>
              <a:t>위에는 X0, Y0, X1, Y1의 입출력 변화가, 그 위에 가설, 힌트, 관측, 조치, 판정 이벤트가 같은 시간축에 표시됩니다. 이벤트를 누르면 그 시점의 학생 설명과 입출력 스냅숏을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[12:50–13:30]</a:t>
            </a:r>
          </a:p>
          <a:p>
            <a:r>
              <a:t>교수자는 이 경로를 세 가지 기준으로 평가합니다. 가설이 관측과 부합하는가, 점검 순서가 원인 범위를 좁혔는가, 최종 설명이 실제 고장 조건과 일치하는가.</a:t>
            </a:r>
          </a:p>
          <a:p>
            <a:r>
              <a:t>힌트 수와 수정 횟수는 참고 정보로만 보입니다. 오른쪽에서는 AI가 한 질문을 승인하거나 수정하고, 정답을 직접 제시했거나 잘못 안내한 사례를 분류합니다.</a:t>
            </a:r>
          </a:p>
          <a:p>
            <a:r>
              <a:t>도입의 학생 A와 B가 구분되는 곳이 바로 이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[13:30–14:00]</a:t>
            </a:r>
          </a:p>
          <a:p>
            <a:r>
              <a:t>다만 AI의 도움으로 해결한 것을 실력으로 착각할 위험이 남습니다.</a:t>
            </a:r>
          </a:p>
          <a:p>
            <a:r>
              <a:t>그래서 모의시험 모드에서는 힌트를 끄고, 유사 난이도의 새 과제를 풀게 합니다. AI 질문 창은 잠기고, 가설 입력은 계속 기록됩니다. 도움 없이 완료하면 독립 수행으로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[14:00–14:40]</a:t>
            </a:r>
          </a:p>
          <a:p>
            <a:r>
              <a:t>마지막으로 교수자의 반 전체 화면입니다.</a:t>
            </a:r>
          </a:p>
          <a:p>
            <a:r>
              <a:t>누가 어느 단계에서 멈췄는지, 가설을 입력하지 않고 조작만 하는 학생은 없는지, 검토가 필요한 AI 피드백은 없는지 한눈에 보입니다.</a:t>
            </a:r>
          </a:p>
          <a:p>
            <a:r>
              <a:t>교수자 한 명이 모든 학생의 과정을 볼 수 없다는 처음의 문제를, 이 화면이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[14:40–15:30]</a:t>
            </a:r>
          </a:p>
          <a:p>
            <a:r>
              <a:t>구현은 작게 시작합니다. 시제품은 PLC 1종과 과제 3종으로 범위를 제한했습니다.</a:t>
            </a:r>
          </a:p>
          <a:p>
            <a:r>
              <a:t>고장 조건은 센서 신호 누락과 응답 지연 두 가지입니다. 둘 다 입출력 변화로 관측되기 때문에 학생의 판단을 장비 기록과 대조할 수 있어서 선정했습니다.</a:t>
            </a:r>
          </a:p>
          <a:p>
            <a:r>
              <a:t>과제별 조건은 과제 프로파일로 관리해, 공개문제가 개정되거나 PLC 기종이 바뀔 때 대응합니다.</a:t>
            </a:r>
          </a:p>
          <a:p>
            <a:r>
              <a:t>그리고 분명히 말씀드리면, 이 장비는 교육용이며 공식 시험의 인증 장비나 채점 기준이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[15:30–16:30]</a:t>
            </a:r>
          </a:p>
          <a:p>
            <a:r>
              <a:t>본 연구는 설계 단계이므로, 무엇을 측정해 검증할지를 세 측면으로 정했습니다.</a:t>
            </a:r>
          </a:p>
          <a:p>
            <a:r>
              <a:t>첫째, 기록 정확성입니다. 결선과 입출력 변화가 빠짐없이, 정확한 시간에 기록되는지, 그리고 교수자가 기록만 보고 파악한 원인이 실제 설정한 고장 조건과 일치하는지 확인합니다.</a:t>
            </a:r>
          </a:p>
          <a:p>
            <a:r>
              <a:t>둘째, 교육 효과입니다. 같은 장비와 수업시간을 쓰는 기존 실습과 비교해, 도움 없이 새 과제를 완료한 비율인 독립 수행률과 원인 설명의 타당성을 평가합니다.</a:t>
            </a:r>
          </a:p>
          <a:p>
            <a:r>
              <a:t>셋째, AI 힌트 효과입니다. 교수자가 검수한 고정 힌트와 비교하고, 잘못된 안내나 정답을 직접 제시한 사례를 따로 분류해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[16:30–18:00]</a:t>
            </a:r>
          </a:p>
          <a:p>
            <a:r>
              <a:t>정리하겠습니다. 본 설계의 핵심은 평가 대상을 최종 동작에서 진단 과정으로 옮긴 데 있습니다.</a:t>
            </a:r>
          </a:p>
          <a:p>
            <a:r>
              <a:t>교수자는 같은 결과 뒤에 가려진 잘못된 가설과 누락된 점검 단계를 찾아 학생별로 지도할 수 있고, 학생은 복기를 통해 관측에 근거해 원인을 설명하는 습관을 기를 수 있습니다. 그리고 독립 수행 확인은 AI의 도움으로 얻은 성공과 실제 역량을 구분하는 기준이 됩니다.</a:t>
            </a:r>
          </a:p>
          <a:p>
            <a:r>
              <a:t>교육 효과는 말씀드린 계획에 따라 검증해야 할 과제입니다. 그러나 원인을 찾아 수정하는 능력은 공개문제와 NCS가 요구하는 핵심 역량이고, 이를 평가하고 지도할 근거를 남기는 실습 환경은 반드시 필요합니다.</a:t>
            </a:r>
          </a:p>
          <a:p>
            <a:r>
              <a:t>[잠시 멈춤] 처음에 보여드린 두 학생, 이 장비에서는 더 이상 같은 평가를 받지 않습니다.</a:t>
            </a:r>
          </a:p>
          <a:p>
            <a:r>
              <a:t>이에 저희는 AutoCert AI Lab을 자동화설비 PLC 실습의 과정 중심 평가·지도 모델로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[18:00–18:10]</a:t>
            </a:r>
          </a:p>
          <a:p>
            <a:r>
              <a:t>경청해 주셔서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ark_panels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9601200" y="0"/>
            <a:ext cx="86868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2026 한국실천공학교육학회 학술발표대회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03120"/>
            <a:ext cx="8961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자격시험 공개문제 기반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PLC 실기·트러블슈팅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교육장비 설계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577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AutoCert AI Lab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589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도형준 · 박수용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한국폴리텍대학 서울정수캠퍼스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도입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같은 합격 동작, 같은 실력일까요?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804672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80960" y="2606040"/>
            <a:ext cx="868680" cy="86868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070" y="2797150"/>
            <a:ext cx="486461" cy="4864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0160" y="347472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34747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입력 상태 확인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80160" y="443484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2801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4434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전진 센서 신호 누락 확인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280160" y="539496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801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5394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결선 복구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6492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관측으로 원인을 좁혔다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418320" y="2377440"/>
            <a:ext cx="804672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87552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B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16276320" y="2606040"/>
            <a:ext cx="868680" cy="86868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7430" y="2797150"/>
            <a:ext cx="486461" cy="48646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875520" y="347472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9875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0652760" y="34747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배선 교체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9875520" y="443484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98755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10652760" y="4434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다른 배선 다시 교체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9875520" y="539496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9875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0652760" y="5394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우연히 동작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9875520" y="6492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시행착오로 우연히 고쳤다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822960" y="7863840"/>
            <a:ext cx="16642080" cy="1280160"/>
          </a:xfrm>
          <a:prstGeom prst="roundRect">
            <a:avLst>
              <a:gd name="adj" fmla="val 12857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1280160" y="7863840"/>
            <a:ext cx="1572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현재 평가가 보는 것: 둘 다 "과제 동작 완료"  →  두 학생을 구분할 수 없다</a:t>
            </a:r>
            <a:endParaRPr lang="en-US" sz="2600" dirty="0"/>
          </a:p>
        </p:txBody>
      </p:sp>
      <p:sp>
        <p:nvSpPr>
          <p:cNvPr id="34" name="Text 30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문제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요구하는 역량과 평가하는 대상이 다르다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7863840" cy="5303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651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요구하는 역량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2741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47472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자동화설비기능사·산업기사 공개문제: PLC 제어작업 [1,2]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NCS PLC 기본 운영: 결선·프로그래밍·시운전·수정보완 [3]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동작하지 않는 원인을 찾아 고치는 능력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915400" y="4800600"/>
            <a:ext cx="731520" cy="457200"/>
          </a:xfrm>
          <a:prstGeom prst="rightArrow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784080" y="2377440"/>
            <a:ext cx="7680960" cy="5303520"/>
          </a:xfrm>
          <a:prstGeom prst="roundRect">
            <a:avLst>
              <a:gd name="adj" fmla="val 3103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241280" y="2651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실제로 평가하는 것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6276320" y="2560320"/>
            <a:ext cx="822960" cy="822960"/>
          </a:xfrm>
          <a:prstGeom prst="ellipse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7371" y="27413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0" y="347472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최종 동작의 성공 여부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원인을 어떤 근거로 좁혔는지는 남지 않음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 한 명이 여러 학생의 </a:t>
            </a: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</a:t>
            </a: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과정을</a:t>
            </a:r>
            <a:b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실시간으로</a:t>
            </a: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모두 볼 수 없음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[1][2] Q-Net 공개문제  [3] NCS 1901080412_20v3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선행연구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 상태는 기록해 왔지만, 학생의 판단은 기록하지 않았다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23560" y="233172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11" y="2512771"/>
            <a:ext cx="460858" cy="46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95560" y="233172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611" y="2512771"/>
            <a:ext cx="460858" cy="4608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767560" y="2331720"/>
            <a:ext cx="822960" cy="82296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8611" y="2512771"/>
            <a:ext cx="460858" cy="46085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293929"/>
              </p:ext>
            </p:extLst>
          </p:nvPr>
        </p:nvGraphicFramePr>
        <p:xfrm>
          <a:off x="822960" y="3291840"/>
          <a:ext cx="16642080" cy="53949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국내 PLC 교육장비 연구 [4,5]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해외 LLM–PLC 연구 [6]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본 연구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기록 대상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장비 상태 (원격 모니터링·진단)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해당 없음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장비 상태 + 학생의 가설·판단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AI의 역할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해당 없음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PLC 제어 코드 생성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(외부 검증 없이는 유효성 </a:t>
                      </a:r>
                      <a:r>
                        <a:rPr lang="en-US" sz="23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보장</a:t>
                      </a: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b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</a:br>
                      <a:r>
                        <a:rPr lang="en-US" sz="23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어려움</a:t>
                      </a: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)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정답이 아닌 점검 질문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평가 초점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접근성·장비 운용 교육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산업용 코드 품질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트러블슈팅 진단 과정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[4] 한얼 외(2010)  [5] 오재준·최성주(2017)  [6] Fakih et al., LLM4PLC(2024)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핵심 아이디어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남겨야 할 것은 조작 횟수가 아니라 판단의 연결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484632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88920" y="2971800"/>
            <a:ext cx="914400" cy="91440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317296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846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 전</a:t>
            </a:r>
            <a:endParaRPr lang="en-US" sz="2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"무엇이 원인일까?"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760720" y="4343400"/>
            <a:ext cx="7772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29400" y="2743200"/>
            <a:ext cx="4846320" cy="3657600"/>
          </a:xfrm>
          <a:prstGeom prst="roundRect">
            <a:avLst>
              <a:gd name="adj" fmla="val 4500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595360" y="2971800"/>
            <a:ext cx="914400" cy="91440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317296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2940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4846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결선·입출력 상태</a:t>
            </a:r>
            <a:endParaRPr lang="en-US" sz="2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"실제로 무엇이 보였나?"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11567160" y="4343400"/>
            <a:ext cx="7772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2435840" y="2743200"/>
            <a:ext cx="484632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4401800" y="2971800"/>
            <a:ext cx="914400" cy="91440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2968" y="317296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43584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판단</a:t>
            </a:r>
            <a:endParaRPr lang="en-US" sz="3400" dirty="0"/>
          </a:p>
        </p:txBody>
      </p:sp>
      <p:sp>
        <p:nvSpPr>
          <p:cNvPr id="20" name="Text 15"/>
          <p:cNvSpPr txBox="1"/>
          <p:nvPr/>
        </p:nvSpPr>
        <p:spPr>
          <a:xfrm>
            <a:off x="12710160" y="4846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결과·수정 이유</a:t>
            </a:r>
            <a:endParaRPr lang="en-US" sz="2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"그래서 무엇을 했나?"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6766560"/>
            <a:ext cx="1664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= 진단 기록  (힌트 이력과 함께 시간순 저장)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822960" y="7772400"/>
            <a:ext cx="16642080" cy="1371600"/>
          </a:xfrm>
          <a:prstGeom prst="roundRect">
            <a:avLst>
              <a:gd name="adj" fmla="val 12000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188720" y="7863840"/>
            <a:ext cx="1591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근거 ·  Jonassen &amp; Hung: 트러블슈팅은 가설 생성·검증과 결과 해석을 포함한 학습 환경이 필요 [7]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         ·  김혜빈 외: 학습 기록은 빈도·시간을 넘어 교육적으로 해석 가능한 지표여야 함 [8]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연구 목적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세 가지를 하나의 실습 흐름으로 연결한다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4846320" cy="4023360"/>
          </a:xfrm>
          <a:prstGeom prst="roundRect">
            <a:avLst>
              <a:gd name="adj" fmla="val 4091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0" y="3474720"/>
            <a:ext cx="1005840" cy="10058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485" y="3696005"/>
            <a:ext cx="563270" cy="563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5778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학생의 가설·관측·판단을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 기록과 연결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629400" y="3108960"/>
            <a:ext cx="4846320" cy="4023360"/>
          </a:xfrm>
          <a:prstGeom prst="roundRect">
            <a:avLst>
              <a:gd name="adj" fmla="val 4091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549640" y="3474720"/>
            <a:ext cx="1005840" cy="10058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5" y="3696005"/>
            <a:ext cx="563270" cy="5632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점검 지원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55778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기록을 근거로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정답이 아닌 질문 제시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12435840" y="3108960"/>
            <a:ext cx="4846320" cy="4023360"/>
          </a:xfrm>
          <a:prstGeom prst="roundRect">
            <a:avLst>
              <a:gd name="adj" fmla="val 4091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4356080" y="3474720"/>
            <a:ext cx="1005840" cy="10058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7365" y="3696005"/>
            <a:ext cx="563270" cy="56327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43584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독립 수행 확인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12710160" y="55778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없는 새 과제로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도움 없는 실력 확인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7863840"/>
            <a:ext cx="1664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피드백은 교수자가 검토한다 — UNESCO 인간 중심 접근 [9]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A9A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시스템 구성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기록을 중심으로 판정·안내·평가를 나눈다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47548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교육장비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 · 센서 · 공압실린더 · 모터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 감지 단자대 · I/O 로거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47548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입력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5989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 전 가설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결과 · 수정 이유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760720" y="3337560"/>
            <a:ext cx="10058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60720" y="5897880"/>
            <a:ext cx="10058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949440" y="3291840"/>
            <a:ext cx="4572000" cy="3108960"/>
          </a:xfrm>
          <a:prstGeom prst="roundRect">
            <a:avLst>
              <a:gd name="adj" fmla="val 5294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22376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1605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 상태 + 학생 판단 + 힌트 이력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시간순 저장 · 과제 프로파일 기준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704320" y="3749040"/>
            <a:ext cx="91440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5486400"/>
            <a:ext cx="91440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2801600" y="2560320"/>
            <a:ext cx="4663440" cy="1737360"/>
          </a:xfrm>
          <a:prstGeom prst="roundRect">
            <a:avLst>
              <a:gd name="adj" fmla="val 9474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30759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규칙 엔진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3075920" y="3429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 순서·시간 조건 판정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2801600" y="4846320"/>
            <a:ext cx="4663440" cy="1737360"/>
          </a:xfrm>
          <a:prstGeom prst="roundRect">
            <a:avLst>
              <a:gd name="adj" fmla="val 9474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3075920" y="5074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학습 지원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0" y="5715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 기반 점검 질문 · 힌트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949440" y="7406640"/>
            <a:ext cx="10515600" cy="1463040"/>
          </a:xfrm>
          <a:prstGeom prst="roundRect">
            <a:avLst>
              <a:gd name="adj" fmla="val 1125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223760" y="740664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교수자: 평가 기준 설정 · 진단 설명 평가 · AI 피드백 검토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22960" y="7406640"/>
            <a:ext cx="4754880" cy="1463040"/>
          </a:xfrm>
          <a:prstGeom prst="roundRect">
            <a:avLst>
              <a:gd name="adj" fmla="val 1125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005840" y="74066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별도 안전 회로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비상정지 · 에너지 차단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안전 회로는 AI·통신과 독립적으로 동작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역할 분담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AI는 정답을 말하지 않고, 점검을 질문한다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8880"/>
          <a:ext cx="16642080" cy="65836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구성 요소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하는 일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하지 않는 일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별도 안전 회로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비상정지·위험 에너지 차단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AI·통신에 의존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규칙 엔진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과제 조건 충족 판정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진단 설명 평가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AI 학습 지원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기록 근거 점검 질문·힌트, 복기 지원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정답 제시 · 장비 제어 · 점수 확정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교수자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평가 기준 설정, 설명 평가, 피드백 검토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힌트 수·수정 횟수만으로 판정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응답이 불가능하면 교수자가 검수한 고정 힌트로 대체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280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학생과 교수자가 실제로 보게 될 화면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48840"/>
            <a:ext cx="5577840" cy="34861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0" y="572643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· 실습 대시보드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372600" y="210312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home/claude/build/demo/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48840"/>
            <a:ext cx="5577840" cy="34861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18320" y="572643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· AI 점검 질문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337560" y="622935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/home/claude/build/demo/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6275070"/>
            <a:ext cx="5577840" cy="34861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98526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복기 · 진단 기록 재생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9372600" y="622935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/home/claude/build/demo/ev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6275070"/>
            <a:ext cx="5577840" cy="348615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418320" y="98526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 · 진단 과정 평가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① 교수자 준비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교수자가 과제 조건과 고장 조건을 설정한다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357248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3572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638506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63850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07602" y="357248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807602" y="3572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 주소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과제마다 사용하는 I/O 주소를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프로파일로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저장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 순서 · 시간 조건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규칙 엔진이 판정할 기준. 금지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상태도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함께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지정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고장 조건 (비공개)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4922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허용된 조건에서 센서 신호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누락·응답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지연을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설정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② 실습 시작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 기반 과제와 실습 모드를 고른다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82145" y="379274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682145" y="379274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568192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568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38044" y="6715461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638044" y="671546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교육용 과제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공개문제를 교육용으로 재구성. 공식 채점 기준 아님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 모드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학습 · 모의시험 · 복기 중 선택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 시작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시작과 동시에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가설·관측·힌트가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17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시간순으로</a:t>
            </a:r>
            <a:r>
              <a:rPr 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기록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③ 고장 발생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실린더는 전진했지만 다음 공정이 멈췄다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38044" y="5139735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638044" y="513973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3397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583397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94427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994427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94427" y="4682266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994427" y="468226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시간 조건 초과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3395960" y="27889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규칙 엔진이 단계 3의 정지를 감지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12755880" y="335584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27558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395960" y="3337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실시간 입출력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3395960" y="3886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X1 전진 완료 센서가 OFF로 표시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12755880" y="445312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27558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395960" y="4434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 상태 기록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13395960" y="49834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단자대 변화 자동 저장 · 원인은 비표시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12755880" y="55504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275588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3395960" y="55321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먼저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3395960" y="6080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 전에 가설 입력을 요구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12719304" y="6638544"/>
            <a:ext cx="4053481" cy="2816352"/>
          </a:xfrm>
          <a:prstGeom prst="roundRect">
            <a:avLst>
              <a:gd name="adj" fmla="val 5844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" descr="/home/claude/build/art/cyli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880" y="6675120"/>
            <a:ext cx="3980329" cy="27432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④ 가설 입력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점검하기 전에 무엇이 원인인지 먼저 적는다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hy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38044" y="4402702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638044" y="44027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5088905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50889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2448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2448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분류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· 결선 · 프로그램 · 지연 중 선택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서술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자신의 말로 원인 추정을 기록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 스냅숏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입력 시점의 장비 상태가 자동 첨부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⑤ AI 점검 질문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AI는 원인 대신 확인할 대상을 묻는다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44370" y="295405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244370" y="29540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20054" y="410619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720054" y="41061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68611" y="5207508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468611" y="5207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정답 비공개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기록과 검수 자료 범위 안에서만 질문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 질문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"X1 입력 표시는 어떤 상태인가요?"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기록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사용은 기록되지만 점수로 직접 환산하지 않음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⑥ 관측과 판정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판단 근거를 남기고, 판정은 규칙 엔진이 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38044" y="364025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638044" y="364025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585135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585135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66914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66914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판단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 후 가설 유지 · 수정 · 기각을 선택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36758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36576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수정 이유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2062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조치와 그 이유를 서술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50932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0749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규칙 엔진 판정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56235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 순서·시간 조건·금지 상태만 판정. AI 관여 없음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12719304" y="6501384"/>
            <a:ext cx="4782312" cy="2629553"/>
          </a:xfrm>
          <a:prstGeom prst="roundRect">
            <a:avLst>
              <a:gd name="adj" fmla="val 6259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/home/claude/build/art/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880" y="6537960"/>
            <a:ext cx="4709160" cy="2556401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⑦ 복기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 변화와 판단을 시간순으로 다시 본다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3682612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36826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611" y="822341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468611" y="82234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800424" y="822341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800424" y="82234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 파형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X0 · Y0 · X1 · Y1 변화와 진단 이벤트를 한 축에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이벤트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→ 힌트 → 관측 → 조치 → 판정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이벤트 상세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각 시점의 학생 설명과 스냅숏 확인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⑧ 교수자 평가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교수자는 결과가 아니라 진단 경로를 평가한다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46660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446660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31164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131164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경로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학생별 가설–관측–판단의 연결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평가 기준 3가지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 부합 · 원인 범위 축소 · 고장 조건 일치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피드백 검토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승인·수정, 정답 제시·잘못된 안내 사례 분류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⑨ 모의시험 모드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힌트를 끄고, 새 과제로 독립 수행을 확인한다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94007" y="217889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4694007" y="21788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94427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994427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38044" y="523292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638044" y="523292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중지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모의시험 모드에서는 문제 해결 힌트 없음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비활성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점검 질문 창이 잠김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독립 수행 기록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도움 없이 완료하면 독립 수행으로 기록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⑩ 반 전체 현황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교수자는 누가 어디서 막혔는지 한눈에 본다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611" y="3885931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468611" y="388593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41367" y="618598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341367" y="61859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현황 요약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 중 인원 · 경고 · 검토 대기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학생별 진행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 · 모드 · 단계 · 규칙 엔진 판정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지도 알림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미입력, AI 검토 필요 등 개입 지점 표시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구현 범위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작게 시작하는 시제품 계획</a:t>
            </a:r>
            <a:endParaRPr lang="en-US" sz="4000" dirty="0"/>
          </a:p>
        </p:txBody>
      </p:sp>
      <p:pic>
        <p:nvPicPr>
          <p:cNvPr id="4" name="Image 0" descr="/home/claude/build/art/tr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914400"/>
            <a:ext cx="6492240" cy="6492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37744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43000" y="2377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23774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24 V DC 제어부 · PLC · 센서 · 공압실린더 · 모터 · 비상정지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43000" y="36118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시제품 범위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36118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 1종 · 과제 3종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22960" y="484632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143000" y="4846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고장 조건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4846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신호 누락 · 응답 지연 — 입출력 변화로 관측 가능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608076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60807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 프로파일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60807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 버전 · I/O 주소 · 동작 순서 · 시간 조건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22960" y="731520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43000" y="73152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변경 대응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73152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 개정 시 프로파일 갱신, 기종 변경 시 호환성 확인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822960" y="8686800"/>
            <a:ext cx="16642080" cy="777240"/>
          </a:xfrm>
          <a:prstGeom prst="roundRect">
            <a:avLst>
              <a:gd name="adj" fmla="val 21176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188720" y="8686800"/>
            <a:ext cx="1591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본 장비는 교육용이며 공식 시험의 인증 장비나 채점 기준이 아님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검증 계획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무엇을 재서 증명할지 세 측면으로 정했다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846320" cy="57607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1560" y="2606040"/>
            <a:ext cx="731520" cy="73152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94" y="276697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 정확성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84048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결선·I/O 변화 기록 누락 여부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 시간 오차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입력과 장비 기록의 연결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기록만으로 </a:t>
            </a:r>
            <a:r>
              <a:rPr lang="en-US" sz="22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파악한</a:t>
            </a: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22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</a:t>
            </a: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vs 실제 고장 조건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629400" y="2468880"/>
            <a:ext cx="4846320" cy="57607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29400" y="246888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58000" y="2606040"/>
            <a:ext cx="731520" cy="73152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934" y="276697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2940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 효과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384048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기존 실습과 </a:t>
            </a:r>
            <a:r>
              <a:rPr lang="en-US" sz="22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비교</a:t>
            </a: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(같은 장비·수업시간)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독립 수행률: 도움 없이 완료한 새 과제 비율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진단한 원인의 정확성·설명의 타당성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12435840" y="2468880"/>
            <a:ext cx="4846320" cy="57607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2435840" y="246888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2664440" y="2606040"/>
            <a:ext cx="731520" cy="73152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5374" y="276697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43584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힌트 효과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0" y="384048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 검수 고정 힌트와 비교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잘못된 안내·정답 직접 </a:t>
            </a:r>
            <a:r>
              <a:rPr lang="en-US" sz="22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제시</a:t>
            </a: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22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사례</a:t>
            </a: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분류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완료 시간·힌트 사용량은 보조 자료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기대효과와 제안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평가 대상을 최종 동작에서 진단 과정으로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846320" cy="3291840"/>
          </a:xfrm>
          <a:prstGeom prst="roundRect">
            <a:avLst>
              <a:gd name="adj" fmla="val 5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0" y="283464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30156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3749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7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같은 결과 뒤의 잘못된 가설·누락된 점검 단계를 찾아 학생별로 지도</a:t>
            </a:r>
            <a:endParaRPr lang="en-US" sz="2070" dirty="0"/>
          </a:p>
        </p:txBody>
      </p:sp>
      <p:sp>
        <p:nvSpPr>
          <p:cNvPr id="9" name="Shape 6"/>
          <p:cNvSpPr/>
          <p:nvPr/>
        </p:nvSpPr>
        <p:spPr>
          <a:xfrm>
            <a:off x="6629400" y="2651760"/>
            <a:ext cx="4846320" cy="3291840"/>
          </a:xfrm>
          <a:prstGeom prst="roundRect">
            <a:avLst>
              <a:gd name="adj" fmla="val 5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04088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10378440" y="283464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491" y="301569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3749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복기를 통해 관측에 </a:t>
            </a:r>
            <a:r>
              <a:rPr lang="en-US" sz="2200" dirty="0" err="1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근거해</a:t>
            </a:r>
            <a: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2200" dirty="0" err="1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원인을</a:t>
            </a:r>
            <a: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설명하는 습관 형성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12435840" y="2651760"/>
            <a:ext cx="4846320" cy="3291840"/>
          </a:xfrm>
          <a:prstGeom prst="roundRect">
            <a:avLst>
              <a:gd name="adj" fmla="val 5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284732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평가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16184880" y="283464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5931" y="301569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47320" y="3749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도움으로 얻은 </a:t>
            </a:r>
            <a:r>
              <a:rPr lang="en-US" sz="2200" dirty="0" err="1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성공과</a:t>
            </a:r>
            <a: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b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2200" dirty="0" err="1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실제</a:t>
            </a:r>
            <a:r>
              <a:rPr 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역량을 구분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6400800"/>
            <a:ext cx="1664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원인을 찾아 수정하는 능력은 공개문제와 NCS의 핵심 요구입니다.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이를 평가하고 지도할 근거를 남기는 실습 환경은 반드시 필요합니다.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22960" y="7955280"/>
            <a:ext cx="16642080" cy="1280160"/>
          </a:xfrm>
          <a:prstGeom prst="roundRect">
            <a:avLst>
              <a:gd name="adj" fmla="val 12857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1188720" y="7955280"/>
            <a:ext cx="1591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AutoCert AI Lab을 자동화설비 PLC 실습의 과정 중심 평가·지도 모델로 제안합니다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A9A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참고문헌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감사합니다</a:t>
            </a:r>
            <a:endParaRPr lang="en-US" sz="4000" dirty="0"/>
          </a:p>
        </p:txBody>
      </p:sp>
      <p:pic>
        <p:nvPicPr>
          <p:cNvPr id="4" name="Image 0" descr="/home/claude/build/cabin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35840" y="0"/>
            <a:ext cx="585216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377440"/>
            <a:ext cx="1115568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[1] 한국산업인력공단, [공개문제] 자동화설비기능사, Q-Net, 2025.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[2] 한국산업인력공단, [공개문제] 자동화설비산업기사, Q-Net, 2024.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[3] 한국산업인력공단, 프로그램로직제어(PLC) 기본 운영, NCS 1901080412_20v3.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[4] 한얼·박성무·홍상은, 산업 자동화 교육훈련을 위한 웹기반 PLC 실험실의 설계 및 구현, 한국산학기술학회논문지, 2010.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[5] 오재준·최성주, 스마트팩토리 구축을 위한 PLC기반의 필드버스 교육 장비 및 교육과정 개발, 실천공학교육논문지, 2017.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[6] M. Fakih et al., LLM4PLC, arXiv:2401.05443, 2024.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[7] D. H. Jonassen &amp; W. Hung, Learning to Troubleshoot, Educational Psychology Review, 2006.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[8] 김혜빈 외, 국내 디지털 교수학습 환경에서의 학습분석 연구 및 데이터 활용에 대한 체계적 문헌 고찰, 교육공학연구, 2023.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[9] F. Miao &amp; W. Holmes, Guidance for Generative AI in Education and Research, UNESCO, 2023.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8869680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도형준 · 박수용  |  dhj00570@gmail.com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3134</Words>
  <Application>Microsoft Office PowerPoint</Application>
  <PresentationFormat>사용자 지정</PresentationFormat>
  <Paragraphs>476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프리텐다드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AutoCert AI Lab 발표</dc:title>
  <dc:subject>PptxGenJS Presentation</dc:subject>
  <dc:creator>PptxGenJS</dc:creator>
  <cp:lastModifiedBy>수용 박</cp:lastModifiedBy>
  <cp:revision>14</cp:revision>
  <dcterms:created xsi:type="dcterms:W3CDTF">2026-09-25T07:46:09Z</dcterms:created>
  <dcterms:modified xsi:type="dcterms:W3CDTF">2026-09-25T08:30:52Z</dcterms:modified>
</cp:coreProperties>
</file>